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64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50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43072" y="1417141"/>
            <a:ext cx="5257800" cy="934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500"/>
              </a:lnSpc>
              <a:buNone/>
            </a:pPr>
            <a:r>
              <a:rPr lang="en-US" sz="4974" b="1" kern="0" spc="-2" dirty="0">
                <a:solidFill>
                  <a:srgbClr val="3B82F6"/>
                </a:solidFill>
              </a:rPr>
              <a:t>Site Auditor Pro</a:t>
            </a:r>
            <a:endParaRPr lang="en-US" sz="4974" dirty="0"/>
          </a:p>
        </p:txBody>
      </p:sp>
      <p:sp>
        <p:nvSpPr>
          <p:cNvPr id="5" name="Text 1"/>
          <p:cNvSpPr/>
          <p:nvPr/>
        </p:nvSpPr>
        <p:spPr>
          <a:xfrm>
            <a:off x="1708277" y="2594074"/>
            <a:ext cx="57274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60A5FA"/>
                </a:solidFill>
              </a:rPr>
              <a:t>The First Dual-Mode Website Auditing Tool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2672655" y="3363813"/>
            <a:ext cx="3798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Making the web accessible, one audit at a time. 
Analyze light &amp; dark modes simultaneously.</a:t>
            </a:r>
            <a:endParaRPr lang="en-US" sz="1269" dirty="0"/>
          </a:p>
        </p:txBody>
      </p:sp>
      <p:sp>
        <p:nvSpPr>
          <p:cNvPr id="7" name="Shape 3"/>
          <p:cNvSpPr/>
          <p:nvPr/>
        </p:nvSpPr>
        <p:spPr>
          <a:xfrm>
            <a:off x="3429140" y="4478238"/>
            <a:ext cx="2285665" cy="341114"/>
          </a:xfrm>
          <a:prstGeom prst="round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750608" y="4571107"/>
            <a:ext cx="17856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60A5FA"/>
                </a:solidFill>
              </a:rPr>
              <a:t>Production Ready • Live on Vercel</a:t>
            </a:r>
            <a:endParaRPr lang="en-US" sz="834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859162-5D86-3517-E186-2BF1B4F2F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033" y="484339"/>
            <a:ext cx="839934" cy="839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The Problem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66217"/>
            <a:ext cx="5715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With dark mode becoming standard (82% user preference), current auditing tools are leaving critical accessibility gaps.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931994"/>
            <a:ext cx="2647931" cy="23516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0075" y="2103444"/>
            <a:ext cx="45720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217744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0075" y="2674944"/>
            <a:ext cx="164563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Light Mode Only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600075" y="3033917"/>
            <a:ext cx="230503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Most tools completely ignore dark mode, missing 50% of potential accessibility violations and contrast issues.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3963051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1525" y="3942513"/>
            <a:ext cx="13506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Leaves users in the dark</a:t>
            </a:r>
            <a:endParaRPr lang="en-US" sz="784" dirty="0"/>
          </a:p>
        </p:txBody>
      </p:sp>
      <p:sp>
        <p:nvSpPr>
          <p:cNvPr id="12" name="Shape 7"/>
          <p:cNvSpPr/>
          <p:nvPr/>
        </p:nvSpPr>
        <p:spPr>
          <a:xfrm>
            <a:off x="3248006" y="1931994"/>
            <a:ext cx="2647959" cy="23516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3419456" y="2103444"/>
            <a:ext cx="45720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181" y="2217744"/>
            <a:ext cx="2857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19456" y="2674944"/>
            <a:ext cx="133557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Vague Advice</a:t>
            </a:r>
            <a:endParaRPr lang="en-US" sz="1397" dirty="0"/>
          </a:p>
        </p:txBody>
      </p:sp>
      <p:sp>
        <p:nvSpPr>
          <p:cNvPr id="16" name="Text 10"/>
          <p:cNvSpPr/>
          <p:nvPr/>
        </p:nvSpPr>
        <p:spPr>
          <a:xfrm>
            <a:off x="3419456" y="3033917"/>
            <a:ext cx="230505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Generic "improve contrast" warnings without specific hex codes or actionable solutions force developers to guess.</a:t>
            </a:r>
            <a:endParaRPr lang="en-US" sz="942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456" y="3963051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590906" y="3942513"/>
            <a:ext cx="12695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Wastes developer time</a:t>
            </a:r>
            <a:endParaRPr lang="en-US" sz="784" dirty="0"/>
          </a:p>
        </p:txBody>
      </p:sp>
      <p:sp>
        <p:nvSpPr>
          <p:cNvPr id="19" name="Shape 12"/>
          <p:cNvSpPr/>
          <p:nvPr/>
        </p:nvSpPr>
        <p:spPr>
          <a:xfrm>
            <a:off x="6067416" y="1931994"/>
            <a:ext cx="2647931" cy="23516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6238866" y="2103444"/>
            <a:ext cx="45720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591" y="2217744"/>
            <a:ext cx="28575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38866" y="2674944"/>
            <a:ext cx="220328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Blind Implementation</a:t>
            </a:r>
            <a:endParaRPr lang="en-US" sz="1397" dirty="0"/>
          </a:p>
        </p:txBody>
      </p:sp>
      <p:sp>
        <p:nvSpPr>
          <p:cNvPr id="23" name="Text 15"/>
          <p:cNvSpPr/>
          <p:nvPr/>
        </p:nvSpPr>
        <p:spPr>
          <a:xfrm>
            <a:off x="6238866" y="3033917"/>
            <a:ext cx="230503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No way to preview fixes before committing code. Developers have to implement, deploy, and re-audit in a slow loop.</a:t>
            </a:r>
            <a:endParaRPr lang="en-US" sz="942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66" y="3963051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410316" y="3942513"/>
            <a:ext cx="11336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Slow iteration cycles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Our Solution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166217"/>
            <a:ext cx="5715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The first comprehensive auditing tool designed for the modern web ecosystem.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903419"/>
            <a:ext cx="457200" cy="4572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2032006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1903419"/>
            <a:ext cx="40862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Dual-Mode Analysis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1028700" y="2262392"/>
            <a:ext cx="40862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Analyzes both light and dark modes simultaneously to catch issues other tools miss.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1028700" y="2759552"/>
            <a:ext cx="925562" cy="221456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028700" y="2759552"/>
            <a:ext cx="925562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Unique Feature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428625" y="3123884"/>
            <a:ext cx="457200" cy="4572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3252471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8700" y="3123884"/>
            <a:ext cx="40862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Specific Color Fixes</a:t>
            </a:r>
            <a:endParaRPr lang="en-US" sz="1397" dirty="0"/>
          </a:p>
        </p:txBody>
      </p:sp>
      <p:sp>
        <p:nvSpPr>
          <p:cNvPr id="14" name="Text 9"/>
          <p:cNvSpPr/>
          <p:nvPr/>
        </p:nvSpPr>
        <p:spPr>
          <a:xfrm>
            <a:off x="1028700" y="3482857"/>
            <a:ext cx="40862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Provides 3 specific WCAG-compliant color alternatives with exact hex codes.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28625" y="4037168"/>
            <a:ext cx="457200" cy="4572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11" y="4165755"/>
            <a:ext cx="225028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700" y="4037168"/>
            <a:ext cx="40862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Live Preview</a:t>
            </a:r>
            <a:endParaRPr lang="en-US" sz="1397" dirty="0"/>
          </a:p>
        </p:txBody>
      </p:sp>
      <p:sp>
        <p:nvSpPr>
          <p:cNvPr id="18" name="Text 12"/>
          <p:cNvSpPr/>
          <p:nvPr/>
        </p:nvSpPr>
        <p:spPr>
          <a:xfrm>
            <a:off x="1028700" y="4396141"/>
            <a:ext cx="40862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9CA3AF"/>
                </a:solidFill>
              </a:rPr>
              <a:t>Test fixes in real-time with a live website preview before committing any code.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5286375" y="1903419"/>
            <a:ext cx="3429000" cy="2126577"/>
          </a:xfrm>
          <a:prstGeom prst="rect">
            <a:avLst/>
          </a:prstGeom>
          <a:solidFill>
            <a:srgbClr val="1A1F26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1989144"/>
            <a:ext cx="3257550" cy="1949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Competitive Advantages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1714500" y="1087636"/>
            <a:ext cx="57150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Why Site Auditor Pro is superior to existing free tools.</a:t>
            </a:r>
            <a:endParaRPr lang="en-US" sz="126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53481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050954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Dual-Mode Analysis</a:t>
            </a:r>
            <a:endParaRPr lang="en-US" sz="1193" dirty="0"/>
          </a:p>
        </p:txBody>
      </p:sp>
      <p:sp>
        <p:nvSpPr>
          <p:cNvPr id="7" name="Shape 3"/>
          <p:cNvSpPr/>
          <p:nvPr/>
        </p:nvSpPr>
        <p:spPr>
          <a:xfrm>
            <a:off x="571500" y="2508154"/>
            <a:ext cx="2571750" cy="5046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" y="2508154"/>
            <a:ext cx="28575" cy="5046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57225" y="2593879"/>
            <a:ext cx="24003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EF4444"/>
                </a:solidFill>
              </a:rPr>
              <a:t>Others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657225" y="2767115"/>
            <a:ext cx="24003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5E7EB"/>
                </a:solidFill>
              </a:rPr>
              <a:t>Only check light mode. Miss 50% of issues.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3098574"/>
            <a:ext cx="2571750" cy="664704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1500" y="3098574"/>
            <a:ext cx="28575" cy="6647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57225" y="3184299"/>
            <a:ext cx="24003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10B981"/>
                </a:solidFill>
              </a:rPr>
              <a:t>Site Auditor Pro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657225" y="3357535"/>
            <a:ext cx="2400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5E7EB"/>
                </a:solidFill>
              </a:rPr>
              <a:t>Analyzes Light + Dark modes simultaneously.</a:t>
            </a:r>
            <a:endParaRPr lang="en-US" sz="834" dirty="0"/>
          </a:p>
        </p:txBody>
      </p:sp>
      <p:sp>
        <p:nvSpPr>
          <p:cNvPr id="15" name="Text 11"/>
          <p:cNvSpPr/>
          <p:nvPr/>
        </p:nvSpPr>
        <p:spPr>
          <a:xfrm>
            <a:off x="571500" y="3906152"/>
            <a:ext cx="2571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</a:rPr>
              <a:t>2x</a:t>
            </a:r>
            <a:endParaRPr lang="en-US" sz="1808" dirty="0"/>
          </a:p>
        </p:txBody>
      </p:sp>
      <p:sp>
        <p:nvSpPr>
          <p:cNvPr id="16" name="Text 12"/>
          <p:cNvSpPr/>
          <p:nvPr/>
        </p:nvSpPr>
        <p:spPr>
          <a:xfrm>
            <a:off x="1290842" y="4300844"/>
            <a:ext cx="1133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More Issues Caught</a:t>
            </a:r>
            <a:endParaRPr lang="en-US" sz="727" dirty="0"/>
          </a:p>
        </p:txBody>
      </p:sp>
      <p:sp>
        <p:nvSpPr>
          <p:cNvPr id="17" name="Shape 13"/>
          <p:cNvSpPr/>
          <p:nvPr/>
        </p:nvSpPr>
        <p:spPr>
          <a:xfrm>
            <a:off x="3278981" y="1613399"/>
            <a:ext cx="7144" cy="268384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413" y="1534818"/>
            <a:ext cx="257175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86125" y="2050954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Live Preview</a:t>
            </a:r>
            <a:endParaRPr lang="en-US" sz="1193" dirty="0"/>
          </a:p>
        </p:txBody>
      </p:sp>
      <p:sp>
        <p:nvSpPr>
          <p:cNvPr id="20" name="Shape 15"/>
          <p:cNvSpPr/>
          <p:nvPr/>
        </p:nvSpPr>
        <p:spPr>
          <a:xfrm>
            <a:off x="3286125" y="2508154"/>
            <a:ext cx="2571750" cy="5046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286125" y="2508154"/>
            <a:ext cx="28575" cy="5046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371850" y="2593879"/>
            <a:ext cx="24003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EF4444"/>
                </a:solidFill>
              </a:rPr>
              <a:t>Others</a:t>
            </a:r>
            <a:endParaRPr lang="en-US" sz="584" dirty="0"/>
          </a:p>
        </p:txBody>
      </p:sp>
      <p:sp>
        <p:nvSpPr>
          <p:cNvPr id="23" name="Text 18"/>
          <p:cNvSpPr/>
          <p:nvPr/>
        </p:nvSpPr>
        <p:spPr>
          <a:xfrm>
            <a:off x="3371850" y="2767115"/>
            <a:ext cx="24003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5E7EB"/>
                </a:solidFill>
              </a:rPr>
              <a:t>Static reports. Implement fixes blind.</a:t>
            </a:r>
            <a:endParaRPr lang="en-US" sz="834" dirty="0"/>
          </a:p>
        </p:txBody>
      </p:sp>
      <p:sp>
        <p:nvSpPr>
          <p:cNvPr id="24" name="Shape 19"/>
          <p:cNvSpPr/>
          <p:nvPr/>
        </p:nvSpPr>
        <p:spPr>
          <a:xfrm>
            <a:off x="3286125" y="3098574"/>
            <a:ext cx="2571750" cy="504695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286125" y="3098574"/>
            <a:ext cx="28575" cy="50469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371850" y="3184299"/>
            <a:ext cx="24003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10B981"/>
                </a:solidFill>
              </a:rPr>
              <a:t>Site Auditor Pro</a:t>
            </a:r>
            <a:endParaRPr lang="en-US" sz="584" dirty="0"/>
          </a:p>
        </p:txBody>
      </p:sp>
      <p:sp>
        <p:nvSpPr>
          <p:cNvPr id="27" name="Text 22"/>
          <p:cNvSpPr/>
          <p:nvPr/>
        </p:nvSpPr>
        <p:spPr>
          <a:xfrm>
            <a:off x="3371850" y="3357535"/>
            <a:ext cx="24003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5E7EB"/>
                </a:solidFill>
              </a:rPr>
              <a:t>Real-time preview &amp; variable editing.</a:t>
            </a:r>
            <a:endParaRPr lang="en-US" sz="834" dirty="0"/>
          </a:p>
        </p:txBody>
      </p:sp>
      <p:sp>
        <p:nvSpPr>
          <p:cNvPr id="28" name="Text 23"/>
          <p:cNvSpPr/>
          <p:nvPr/>
        </p:nvSpPr>
        <p:spPr>
          <a:xfrm>
            <a:off x="3286125" y="3906152"/>
            <a:ext cx="2571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</a:rPr>
              <a:t>-5h</a:t>
            </a:r>
            <a:endParaRPr lang="en-US" sz="1808" dirty="0"/>
          </a:p>
        </p:txBody>
      </p:sp>
      <p:sp>
        <p:nvSpPr>
          <p:cNvPr id="29" name="Text 24"/>
          <p:cNvSpPr/>
          <p:nvPr/>
        </p:nvSpPr>
        <p:spPr>
          <a:xfrm>
            <a:off x="4073472" y="4300844"/>
            <a:ext cx="9970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Saved Per Project</a:t>
            </a:r>
            <a:endParaRPr lang="en-US" sz="727" dirty="0"/>
          </a:p>
        </p:txBody>
      </p:sp>
      <p:sp>
        <p:nvSpPr>
          <p:cNvPr id="30" name="Shape 25"/>
          <p:cNvSpPr/>
          <p:nvPr/>
        </p:nvSpPr>
        <p:spPr>
          <a:xfrm>
            <a:off x="5993606" y="1613399"/>
            <a:ext cx="7144" cy="268384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13" y="1534818"/>
            <a:ext cx="428625" cy="3429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000750" y="2050954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Framework Aware</a:t>
            </a:r>
            <a:endParaRPr lang="en-US" sz="1193" dirty="0"/>
          </a:p>
        </p:txBody>
      </p:sp>
      <p:sp>
        <p:nvSpPr>
          <p:cNvPr id="33" name="Shape 27"/>
          <p:cNvSpPr/>
          <p:nvPr/>
        </p:nvSpPr>
        <p:spPr>
          <a:xfrm>
            <a:off x="6000750" y="2508154"/>
            <a:ext cx="2571750" cy="5046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6000750" y="2508154"/>
            <a:ext cx="28575" cy="5046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6086475" y="2593879"/>
            <a:ext cx="24003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EF4444"/>
                </a:solidFill>
              </a:rPr>
              <a:t>Others</a:t>
            </a:r>
            <a:endParaRPr lang="en-US" sz="584" dirty="0"/>
          </a:p>
        </p:txBody>
      </p:sp>
      <p:sp>
        <p:nvSpPr>
          <p:cNvPr id="36" name="Text 30"/>
          <p:cNvSpPr/>
          <p:nvPr/>
        </p:nvSpPr>
        <p:spPr>
          <a:xfrm>
            <a:off x="6086475" y="2767115"/>
            <a:ext cx="24003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5E7EB"/>
                </a:solidFill>
              </a:rPr>
              <a:t>Generic parsing. Breaks on modern stacks.</a:t>
            </a:r>
            <a:endParaRPr lang="en-US" sz="834" dirty="0"/>
          </a:p>
        </p:txBody>
      </p:sp>
      <p:sp>
        <p:nvSpPr>
          <p:cNvPr id="37" name="Shape 31"/>
          <p:cNvSpPr/>
          <p:nvPr/>
        </p:nvSpPr>
        <p:spPr>
          <a:xfrm>
            <a:off x="6000750" y="3098574"/>
            <a:ext cx="2571750" cy="504695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6000750" y="3098574"/>
            <a:ext cx="28575" cy="50469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086475" y="3184299"/>
            <a:ext cx="24003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10B981"/>
                </a:solidFill>
              </a:rPr>
              <a:t>Site Auditor Pro</a:t>
            </a:r>
            <a:endParaRPr lang="en-US" sz="584" dirty="0"/>
          </a:p>
        </p:txBody>
      </p:sp>
      <p:sp>
        <p:nvSpPr>
          <p:cNvPr id="40" name="Text 34"/>
          <p:cNvSpPr/>
          <p:nvPr/>
        </p:nvSpPr>
        <p:spPr>
          <a:xfrm>
            <a:off x="6086475" y="3357535"/>
            <a:ext cx="24003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E5E7EB"/>
                </a:solidFill>
              </a:rPr>
              <a:t>Native Bootstrap &amp; Tailwind support.</a:t>
            </a:r>
            <a:endParaRPr lang="en-US" sz="834" dirty="0"/>
          </a:p>
        </p:txBody>
      </p:sp>
      <p:sp>
        <p:nvSpPr>
          <p:cNvPr id="41" name="Text 35"/>
          <p:cNvSpPr/>
          <p:nvPr/>
        </p:nvSpPr>
        <p:spPr>
          <a:xfrm>
            <a:off x="6000750" y="3906152"/>
            <a:ext cx="2571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</a:rPr>
              <a:t>100%</a:t>
            </a:r>
            <a:endParaRPr lang="en-US" sz="1808" dirty="0"/>
          </a:p>
        </p:txBody>
      </p:sp>
      <p:sp>
        <p:nvSpPr>
          <p:cNvPr id="42" name="Text 36"/>
          <p:cNvSpPr/>
          <p:nvPr/>
        </p:nvSpPr>
        <p:spPr>
          <a:xfrm>
            <a:off x="6710186" y="4300844"/>
            <a:ext cx="11528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Modern Stack Ready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9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Target Market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166217"/>
            <a:ext cx="57150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Empowering the creators of the modern web ecosystem.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691980"/>
            <a:ext cx="3786188" cy="67865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375" y="1852715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28" y="1952727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0150" y="1834855"/>
            <a:ext cx="28480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Web Developers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200150" y="2058098"/>
            <a:ext cx="28480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Fix accessibility issues before they become problems.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527799"/>
            <a:ext cx="3786188" cy="67865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14375" y="2688534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8" y="2788546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0150" y="2670674"/>
            <a:ext cx="252593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Designers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1200150" y="2893916"/>
            <a:ext cx="25259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Test color schemes for WCAG compliance early.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571500" y="3363618"/>
            <a:ext cx="3786188" cy="67865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14375" y="3524352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8" y="3624365"/>
            <a:ext cx="142875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0150" y="3506493"/>
            <a:ext cx="26906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Agencies</a:t>
            </a:r>
            <a:endParaRPr lang="en-US" sz="987" dirty="0"/>
          </a:p>
        </p:txBody>
      </p:sp>
      <p:sp>
        <p:nvSpPr>
          <p:cNvPr id="19" name="Text 13"/>
          <p:cNvSpPr/>
          <p:nvPr/>
        </p:nvSpPr>
        <p:spPr>
          <a:xfrm>
            <a:off x="1200150" y="3729735"/>
            <a:ext cx="26906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Audit client sites and provide professional reports.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571500" y="4199437"/>
            <a:ext cx="3786188" cy="67865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14375" y="4360171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28" y="4460184"/>
            <a:ext cx="178594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0150" y="4342312"/>
            <a:ext cx="25865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Product Teams</a:t>
            </a:r>
            <a:endParaRPr lang="en-US" sz="987" dirty="0"/>
          </a:p>
        </p:txBody>
      </p:sp>
      <p:sp>
        <p:nvSpPr>
          <p:cNvPr id="24" name="Text 17"/>
          <p:cNvSpPr/>
          <p:nvPr/>
        </p:nvSpPr>
        <p:spPr>
          <a:xfrm>
            <a:off x="1200150" y="4565554"/>
            <a:ext cx="25865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Ensure consistent quality across web properties.</a:t>
            </a:r>
            <a:endParaRPr lang="en-US" sz="834" dirty="0"/>
          </a:p>
        </p:txBody>
      </p:sp>
      <p:sp>
        <p:nvSpPr>
          <p:cNvPr id="25" name="Shape 18"/>
          <p:cNvSpPr/>
          <p:nvPr/>
        </p:nvSpPr>
        <p:spPr>
          <a:xfrm>
            <a:off x="5136356" y="1734843"/>
            <a:ext cx="3086100" cy="3086100"/>
          </a:xfrm>
          <a:prstGeom prst="ellipse">
            <a:avLst/>
          </a:prstGeom>
          <a:solidFill>
            <a:srgbClr val="FFFFFF">
              <a:alpha val="1000"/>
            </a:srgbClr>
          </a:solidFill>
          <a:ln w="18288">
            <a:solidFill>
              <a:srgbClr val="FFFFFF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6492859" y="1949155"/>
            <a:ext cx="3730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CA3AF"/>
                </a:solidFill>
              </a:rPr>
              <a:t>TAM</a:t>
            </a:r>
            <a:endParaRPr lang="en-US" sz="1193" dirty="0"/>
          </a:p>
        </p:txBody>
      </p:sp>
      <p:sp>
        <p:nvSpPr>
          <p:cNvPr id="27" name="Text 20"/>
          <p:cNvSpPr/>
          <p:nvPr/>
        </p:nvSpPr>
        <p:spPr>
          <a:xfrm>
            <a:off x="6438221" y="2183113"/>
            <a:ext cx="48237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28M</a:t>
            </a:r>
            <a:endParaRPr lang="en-US" sz="1602" dirty="0"/>
          </a:p>
        </p:txBody>
      </p:sp>
      <p:sp>
        <p:nvSpPr>
          <p:cNvPr id="28" name="Text 21"/>
          <p:cNvSpPr/>
          <p:nvPr/>
        </p:nvSpPr>
        <p:spPr>
          <a:xfrm>
            <a:off x="6033650" y="2524227"/>
            <a:ext cx="12914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Web Developers Worldwide</a:t>
            </a:r>
            <a:endParaRPr lang="en-US" sz="727" dirty="0"/>
          </a:p>
        </p:txBody>
      </p:sp>
      <p:sp>
        <p:nvSpPr>
          <p:cNvPr id="29" name="Shape 22"/>
          <p:cNvSpPr/>
          <p:nvPr/>
        </p:nvSpPr>
        <p:spPr>
          <a:xfrm>
            <a:off x="5650706" y="2249193"/>
            <a:ext cx="2057400" cy="2057400"/>
          </a:xfrm>
          <a:prstGeom prst="ellipse">
            <a:avLst/>
          </a:prstGeom>
          <a:solidFill>
            <a:srgbClr val="3B82F6">
              <a:alpha val="5000"/>
            </a:srgbClr>
          </a:solidFill>
          <a:ln w="18288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5650706" y="3043935"/>
            <a:ext cx="20574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0A5FA"/>
                </a:solidFill>
              </a:rPr>
              <a:t>SAM</a:t>
            </a:r>
            <a:endParaRPr lang="en-US" sz="987" dirty="0"/>
          </a:p>
        </p:txBody>
      </p:sp>
      <p:sp>
        <p:nvSpPr>
          <p:cNvPr id="31" name="Text 24"/>
          <p:cNvSpPr/>
          <p:nvPr/>
        </p:nvSpPr>
        <p:spPr>
          <a:xfrm>
            <a:off x="6117729" y="3238602"/>
            <a:ext cx="3064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8M</a:t>
            </a:r>
            <a:endParaRPr lang="en-US" sz="1397" dirty="0"/>
          </a:p>
        </p:txBody>
      </p:sp>
      <p:sp>
        <p:nvSpPr>
          <p:cNvPr id="32" name="Text 25"/>
          <p:cNvSpPr/>
          <p:nvPr/>
        </p:nvSpPr>
        <p:spPr>
          <a:xfrm>
            <a:off x="6453904" y="3363618"/>
            <a:ext cx="7871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3C5FD"/>
                </a:solidFill>
              </a:rPr>
              <a:t>Accessibility-Critical</a:t>
            </a:r>
            <a:endParaRPr lang="en-US" sz="621" dirty="0"/>
          </a:p>
        </p:txBody>
      </p:sp>
      <p:sp>
        <p:nvSpPr>
          <p:cNvPr id="33" name="Shape 26"/>
          <p:cNvSpPr/>
          <p:nvPr/>
        </p:nvSpPr>
        <p:spPr>
          <a:xfrm>
            <a:off x="6165056" y="2763543"/>
            <a:ext cx="1028700" cy="10287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6481111" y="2927849"/>
            <a:ext cx="39659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SOM</a:t>
            </a:r>
            <a:endParaRPr lang="en-US" sz="1193" dirty="0"/>
          </a:p>
        </p:txBody>
      </p:sp>
      <p:sp>
        <p:nvSpPr>
          <p:cNvPr id="35" name="Text 28"/>
          <p:cNvSpPr/>
          <p:nvPr/>
        </p:nvSpPr>
        <p:spPr>
          <a:xfrm>
            <a:off x="6369630" y="3161807"/>
            <a:ext cx="61955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500K</a:t>
            </a:r>
            <a:endParaRPr lang="en-US" sz="1808" dirty="0"/>
          </a:p>
        </p:txBody>
      </p:sp>
      <p:sp>
        <p:nvSpPr>
          <p:cNvPr id="36" name="Text 29"/>
          <p:cNvSpPr/>
          <p:nvPr/>
        </p:nvSpPr>
        <p:spPr>
          <a:xfrm>
            <a:off x="6212970" y="3511851"/>
            <a:ext cx="9328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80000"/>
                  </a:srgbClr>
                </a:solidFill>
              </a:rPr>
              <a:t>Agencies &amp; Freelancers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02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Business Model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166217"/>
            <a:ext cx="5715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Transitioning from community growth to a sustainable SaaS revenue model.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2003431"/>
            <a:ext cx="1871663" cy="28081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221651" y="1917706"/>
            <a:ext cx="571360" cy="173236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21651" y="1917706"/>
            <a:ext cx="571360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Current</a:t>
            </a:r>
            <a:endParaRPr lang="en-US" sz="584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232031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950" y="2574931"/>
            <a:ext cx="1528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9CA3AF"/>
                </a:solidFill>
              </a:rPr>
              <a:t>Free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742950" y="2826748"/>
            <a:ext cx="15287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$0</a:t>
            </a:r>
            <a:endParaRPr lang="en-US" sz="212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614347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8688" y="3585772"/>
            <a:ext cx="64673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Basic Audits</a:t>
            </a:r>
            <a:endParaRPr lang="en-US" sz="83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888656"/>
            <a:ext cx="100013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8688" y="3860081"/>
            <a:ext cx="74822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HTML Exports</a:t>
            </a:r>
            <a:endParaRPr lang="en-US" sz="834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162965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8688" y="4134390"/>
            <a:ext cx="108677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Community Support</a:t>
            </a:r>
            <a:endParaRPr lang="en-US" sz="834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437273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28688" y="4408698"/>
            <a:ext cx="81634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Limited History</a:t>
            </a:r>
            <a:endParaRPr lang="en-US" sz="834" dirty="0"/>
          </a:p>
        </p:txBody>
      </p:sp>
      <p:sp>
        <p:nvSpPr>
          <p:cNvPr id="19" name="Shape 11"/>
          <p:cNvSpPr/>
          <p:nvPr/>
        </p:nvSpPr>
        <p:spPr>
          <a:xfrm>
            <a:off x="2614613" y="2003431"/>
            <a:ext cx="1871663" cy="2808163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6063" y="2232031"/>
            <a:ext cx="17145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786063" y="2574931"/>
            <a:ext cx="1528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9CA3AF"/>
                </a:solidFill>
              </a:rPr>
              <a:t>Pro</a:t>
            </a:r>
            <a:endParaRPr lang="en-US" sz="987" dirty="0"/>
          </a:p>
        </p:txBody>
      </p:sp>
      <p:sp>
        <p:nvSpPr>
          <p:cNvPr id="22" name="Text 13"/>
          <p:cNvSpPr/>
          <p:nvPr/>
        </p:nvSpPr>
        <p:spPr>
          <a:xfrm>
            <a:off x="2786063" y="2826748"/>
            <a:ext cx="196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$19</a:t>
            </a:r>
            <a:endParaRPr lang="en-US" sz="834" dirty="0"/>
          </a:p>
        </p:txBody>
      </p:sp>
      <p:sp>
        <p:nvSpPr>
          <p:cNvPr id="23" name="Text 14"/>
          <p:cNvSpPr/>
          <p:nvPr/>
        </p:nvSpPr>
        <p:spPr>
          <a:xfrm>
            <a:off x="3010784" y="2826748"/>
            <a:ext cx="2185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/mo</a:t>
            </a:r>
            <a:endParaRPr lang="en-US" sz="834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6063" y="3360744"/>
            <a:ext cx="100013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2971800" y="3332169"/>
            <a:ext cx="89475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Unlimited Audits</a:t>
            </a:r>
            <a:endParaRPr lang="en-US" sz="834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063" y="3635053"/>
            <a:ext cx="100013" cy="10001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2971800" y="3606478"/>
            <a:ext cx="98608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All Export Formats</a:t>
            </a:r>
            <a:endParaRPr lang="en-US" sz="834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6063" y="3909361"/>
            <a:ext cx="100013" cy="100013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2971800" y="3880786"/>
            <a:ext cx="85259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Priority Support</a:t>
            </a:r>
            <a:endParaRPr lang="en-US" sz="834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063" y="4183670"/>
            <a:ext cx="100013" cy="100013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2971800" y="4155095"/>
            <a:ext cx="94322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API Access (Basic)</a:t>
            </a:r>
            <a:endParaRPr lang="en-US" sz="834" dirty="0"/>
          </a:p>
        </p:txBody>
      </p:sp>
      <p:sp>
        <p:nvSpPr>
          <p:cNvPr id="32" name="Shape 19"/>
          <p:cNvSpPr/>
          <p:nvPr/>
        </p:nvSpPr>
        <p:spPr>
          <a:xfrm>
            <a:off x="4657725" y="2003431"/>
            <a:ext cx="1871663" cy="28081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9175" y="2232031"/>
            <a:ext cx="171450" cy="2286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829175" y="2574931"/>
            <a:ext cx="1528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9CA3AF"/>
                </a:solidFill>
              </a:rPr>
              <a:t>Team</a:t>
            </a:r>
            <a:endParaRPr lang="en-US" sz="987" dirty="0"/>
          </a:p>
        </p:txBody>
      </p:sp>
      <p:sp>
        <p:nvSpPr>
          <p:cNvPr id="35" name="Text 21"/>
          <p:cNvSpPr/>
          <p:nvPr/>
        </p:nvSpPr>
        <p:spPr>
          <a:xfrm>
            <a:off x="4829175" y="2826748"/>
            <a:ext cx="196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$49</a:t>
            </a:r>
            <a:endParaRPr lang="en-US" sz="834" dirty="0"/>
          </a:p>
        </p:txBody>
      </p:sp>
      <p:sp>
        <p:nvSpPr>
          <p:cNvPr id="36" name="Text 22"/>
          <p:cNvSpPr/>
          <p:nvPr/>
        </p:nvSpPr>
        <p:spPr>
          <a:xfrm>
            <a:off x="5053896" y="2826748"/>
            <a:ext cx="2185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/mo</a:t>
            </a:r>
            <a:endParaRPr lang="en-US" sz="834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9175" y="3360744"/>
            <a:ext cx="100013" cy="100013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014913" y="3332169"/>
            <a:ext cx="66216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5 User Seats</a:t>
            </a:r>
            <a:endParaRPr lang="en-US" sz="834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3635053"/>
            <a:ext cx="100013" cy="100013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014913" y="3606478"/>
            <a:ext cx="82513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Shared Reports</a:t>
            </a:r>
            <a:endParaRPr lang="en-US" sz="834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3909361"/>
            <a:ext cx="100013" cy="100013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014913" y="3880786"/>
            <a:ext cx="77724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White-labeling</a:t>
            </a:r>
            <a:endParaRPr lang="en-US" sz="834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4183670"/>
            <a:ext cx="100013" cy="100013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014913" y="4155095"/>
            <a:ext cx="104128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Team Management</a:t>
            </a:r>
            <a:endParaRPr lang="en-US" sz="834" dirty="0"/>
          </a:p>
        </p:txBody>
      </p:sp>
      <p:sp>
        <p:nvSpPr>
          <p:cNvPr id="45" name="Shape 27"/>
          <p:cNvSpPr/>
          <p:nvPr/>
        </p:nvSpPr>
        <p:spPr>
          <a:xfrm>
            <a:off x="6700838" y="2003431"/>
            <a:ext cx="1871663" cy="28081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2288" y="2232031"/>
            <a:ext cx="228600" cy="22860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872288" y="2574931"/>
            <a:ext cx="1528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9CA3AF"/>
                </a:solidFill>
              </a:rPr>
              <a:t>API / Ent</a:t>
            </a:r>
            <a:endParaRPr lang="en-US" sz="987" dirty="0"/>
          </a:p>
        </p:txBody>
      </p:sp>
      <p:sp>
        <p:nvSpPr>
          <p:cNvPr id="48" name="Text 29"/>
          <p:cNvSpPr/>
          <p:nvPr/>
        </p:nvSpPr>
        <p:spPr>
          <a:xfrm>
            <a:off x="6872288" y="2826748"/>
            <a:ext cx="15287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Custom</a:t>
            </a:r>
            <a:endParaRPr lang="en-US" sz="2121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288" y="3614347"/>
            <a:ext cx="100013" cy="100013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7058025" y="3585772"/>
            <a:ext cx="90125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High-volume API</a:t>
            </a:r>
            <a:endParaRPr lang="en-US" sz="834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288" y="3888656"/>
            <a:ext cx="100013" cy="100013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7058025" y="3860081"/>
            <a:ext cx="94389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CI/CD Integration</a:t>
            </a:r>
            <a:endParaRPr lang="en-US" sz="834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2288" y="4162965"/>
            <a:ext cx="100013" cy="100013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7058025" y="4134390"/>
            <a:ext cx="78684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SSO &amp; Security</a:t>
            </a:r>
            <a:endParaRPr lang="en-US" sz="834" dirty="0"/>
          </a:p>
        </p:txBody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288" y="4437273"/>
            <a:ext cx="100013" cy="100013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7058025" y="4408698"/>
            <a:ext cx="7932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D1D5DB"/>
                </a:solidFill>
              </a:rPr>
              <a:t>SLA Guarantee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Business Value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166217"/>
            <a:ext cx="5715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Delivering measurable ROI across the entire web development lifecycle.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482830"/>
            <a:ext cx="3936206" cy="169842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00088" y="1611418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697143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8713" y="1665889"/>
            <a:ext cx="19777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Freelancers &amp; Agencies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00088" y="2040043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Clients expect WCAG compliance, but manual auditing is slow. Automate the process and generate professional reports instantly.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700088" y="2575824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0A5FA"/>
                </a:solidFill>
              </a:rPr>
              <a:t>Impact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700088" y="2740130"/>
            <a:ext cx="3679031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CA3AF"/>
                </a:solidFill>
              </a:rPr>
              <a:t>Save 5-10 Hours / Project</a:t>
            </a:r>
            <a:endParaRPr lang="en-US" sz="987" dirty="0"/>
          </a:p>
        </p:txBody>
      </p:sp>
      <p:sp>
        <p:nvSpPr>
          <p:cNvPr id="12" name="Shape 8"/>
          <p:cNvSpPr/>
          <p:nvPr/>
        </p:nvSpPr>
        <p:spPr>
          <a:xfrm>
            <a:off x="4636294" y="1482830"/>
            <a:ext cx="3936206" cy="169842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64881" y="1611418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697143"/>
            <a:ext cx="214313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93506" y="1665889"/>
            <a:ext cx="12622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Product Teams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4764881" y="2040043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Accessibility issues found late are expensive. Audit staging sites before launch to catch issues early.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4764881" y="2575824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0A5FA"/>
                </a:solidFill>
              </a:rPr>
              <a:t>Impact</a:t>
            </a:r>
            <a:endParaRPr lang="en-US" sz="683" dirty="0"/>
          </a:p>
        </p:txBody>
      </p:sp>
      <p:sp>
        <p:nvSpPr>
          <p:cNvPr id="18" name="Text 13"/>
          <p:cNvSpPr/>
          <p:nvPr/>
        </p:nvSpPr>
        <p:spPr>
          <a:xfrm>
            <a:off x="4764881" y="2740130"/>
            <a:ext cx="3679031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CA3AF"/>
                </a:solidFill>
              </a:rPr>
              <a:t>80% Reduction in Post-Launch Fixes</a:t>
            </a:r>
            <a:endParaRPr lang="en-US" sz="987" dirty="0"/>
          </a:p>
        </p:txBody>
      </p:sp>
      <p:sp>
        <p:nvSpPr>
          <p:cNvPr id="19" name="Shape 14"/>
          <p:cNvSpPr/>
          <p:nvPr/>
        </p:nvSpPr>
        <p:spPr>
          <a:xfrm>
            <a:off x="571500" y="3309844"/>
            <a:ext cx="3936206" cy="169842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00088" y="3438432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524157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28713" y="3492903"/>
            <a:ext cx="851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Designers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700088" y="3867057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Test color palettes against WCAG standards in both light and dark modes before handing off to developers.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700088" y="4402838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0A5FA"/>
                </a:solidFill>
              </a:rPr>
              <a:t>Impact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700088" y="4567144"/>
            <a:ext cx="36790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5E7EB"/>
                </a:solidFill>
              </a:rPr>
              <a:t>Eliminate Back-and-Forth</a:t>
            </a:r>
            <a:endParaRPr lang="en-US" sz="1602" dirty="0"/>
          </a:p>
        </p:txBody>
      </p:sp>
      <p:sp>
        <p:nvSpPr>
          <p:cNvPr id="26" name="Shape 20"/>
          <p:cNvSpPr/>
          <p:nvPr/>
        </p:nvSpPr>
        <p:spPr>
          <a:xfrm>
            <a:off x="4636294" y="3309844"/>
            <a:ext cx="3936206" cy="169842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764881" y="3424144"/>
            <a:ext cx="342900" cy="3429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3509869"/>
            <a:ext cx="214313" cy="1714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93506" y="3478615"/>
            <a:ext cx="9550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Developers</a:t>
            </a:r>
            <a:endParaRPr lang="en-US" sz="1193" dirty="0"/>
          </a:p>
        </p:txBody>
      </p:sp>
      <p:sp>
        <p:nvSpPr>
          <p:cNvPr id="30" name="Text 23"/>
          <p:cNvSpPr/>
          <p:nvPr/>
        </p:nvSpPr>
        <p:spPr>
          <a:xfrm>
            <a:off x="4764881" y="3852769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Stop guessing with vague advice. Get exact hex codes and copy-paste CSS fixes.</a:t>
            </a:r>
            <a:endParaRPr lang="en-US" sz="834" dirty="0"/>
          </a:p>
        </p:txBody>
      </p:sp>
      <p:sp>
        <p:nvSpPr>
          <p:cNvPr id="31" name="Text 24"/>
          <p:cNvSpPr/>
          <p:nvPr/>
        </p:nvSpPr>
        <p:spPr>
          <a:xfrm>
            <a:off x="4764881" y="4374263"/>
            <a:ext cx="36790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0A5FA"/>
                </a:solidFill>
              </a:rPr>
              <a:t>Impact</a:t>
            </a:r>
            <a:endParaRPr lang="en-US" sz="683" dirty="0"/>
          </a:p>
        </p:txBody>
      </p:sp>
      <p:sp>
        <p:nvSpPr>
          <p:cNvPr id="32" name="Text 25"/>
          <p:cNvSpPr/>
          <p:nvPr/>
        </p:nvSpPr>
        <p:spPr>
          <a:xfrm>
            <a:off x="4764881" y="4538569"/>
            <a:ext cx="3679031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CA3AF"/>
                </a:solidFill>
              </a:rPr>
              <a:t>Fix in Minutes vs Hours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28625"/>
            <a:ext cx="85725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Traction &amp; Roadmap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85750" y="1166217"/>
            <a:ext cx="5715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From launch to enterprise scale in 12 months.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285750" y="1614488"/>
            <a:ext cx="2035969" cy="1085850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14338" y="1950244"/>
            <a:ext cx="370219" cy="40005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52" y="2071688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8857" y="1743075"/>
            <a:ext cx="1283559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Live Production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898857" y="2246709"/>
            <a:ext cx="128355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10/10 Features Functional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2453878" y="1614488"/>
            <a:ext cx="2039541" cy="10715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586038" y="1743075"/>
            <a:ext cx="17716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10K</a:t>
            </a:r>
            <a:endParaRPr lang="en-US" sz="2121" dirty="0"/>
          </a:p>
        </p:txBody>
      </p:sp>
      <p:sp>
        <p:nvSpPr>
          <p:cNvPr id="12" name="Text 8"/>
          <p:cNvSpPr/>
          <p:nvPr/>
        </p:nvSpPr>
        <p:spPr>
          <a:xfrm>
            <a:off x="2586038" y="2187773"/>
            <a:ext cx="17716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9CA3AF"/>
                </a:solidFill>
              </a:rPr>
              <a:t>Audits (3 Mo)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4629150" y="1614488"/>
            <a:ext cx="2043113" cy="10715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764881" y="1743075"/>
            <a:ext cx="177522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10K</a:t>
            </a:r>
            <a:endParaRPr lang="en-US" sz="2121" dirty="0"/>
          </a:p>
        </p:txBody>
      </p:sp>
      <p:sp>
        <p:nvSpPr>
          <p:cNvPr id="15" name="Text 11"/>
          <p:cNvSpPr/>
          <p:nvPr/>
        </p:nvSpPr>
        <p:spPr>
          <a:xfrm>
            <a:off x="4764881" y="2187773"/>
            <a:ext cx="17752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9CA3AF"/>
                </a:solidFill>
              </a:rPr>
              <a:t>MAU (12 Mo)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6811566" y="1614488"/>
            <a:ext cx="2046684" cy="10715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950869" y="1743075"/>
            <a:ext cx="177879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500+</a:t>
            </a:r>
            <a:endParaRPr lang="en-US" sz="2121" dirty="0"/>
          </a:p>
        </p:txBody>
      </p:sp>
      <p:sp>
        <p:nvSpPr>
          <p:cNvPr id="18" name="Text 14"/>
          <p:cNvSpPr/>
          <p:nvPr/>
        </p:nvSpPr>
        <p:spPr>
          <a:xfrm>
            <a:off x="6950869" y="2187773"/>
            <a:ext cx="17787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9CA3AF"/>
                </a:solidFill>
              </a:rPr>
              <a:t>Pro Users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285750" y="2900363"/>
            <a:ext cx="8572500" cy="23395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Product Roadmap</a:t>
            </a:r>
            <a:endParaRPr lang="en-US" sz="1269" dirty="0"/>
          </a:p>
        </p:txBody>
      </p:sp>
      <p:sp>
        <p:nvSpPr>
          <p:cNvPr id="20" name="Shape 16"/>
          <p:cNvSpPr/>
          <p:nvPr/>
        </p:nvSpPr>
        <p:spPr>
          <a:xfrm>
            <a:off x="642938" y="3405783"/>
            <a:ext cx="7858125" cy="142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85750" y="3491508"/>
            <a:ext cx="20788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0A5FA"/>
                </a:solidFill>
              </a:rPr>
              <a:t>Q1 2026 (Current)</a:t>
            </a:r>
            <a:endParaRPr lang="en-US" sz="683" dirty="0"/>
          </a:p>
        </p:txBody>
      </p:sp>
      <p:sp>
        <p:nvSpPr>
          <p:cNvPr id="22" name="Shape 18"/>
          <p:cNvSpPr/>
          <p:nvPr/>
        </p:nvSpPr>
        <p:spPr>
          <a:xfrm>
            <a:off x="285750" y="3670102"/>
            <a:ext cx="2078831" cy="1075134"/>
          </a:xfrm>
          <a:prstGeom prst="rect">
            <a:avLst/>
          </a:prstGeom>
          <a:solidFill>
            <a:srgbClr val="3B82F6">
              <a:alpha val="5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71475" y="3755827"/>
            <a:ext cx="19073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Launch</a:t>
            </a:r>
            <a:endParaRPr lang="en-US" sz="885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4020145"/>
            <a:ext cx="71438" cy="714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0063" y="3987998"/>
            <a:ext cx="6436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Core Auditing</a:t>
            </a:r>
            <a:endParaRPr lang="en-US" sz="727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4184452"/>
            <a:ext cx="71438" cy="714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0063" y="4152305"/>
            <a:ext cx="9243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Dual-Mode Analysis</a:t>
            </a:r>
            <a:endParaRPr lang="en-US" sz="727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4348758"/>
            <a:ext cx="71438" cy="714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0063" y="4316611"/>
            <a:ext cx="5752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Live Preview</a:t>
            </a:r>
            <a:endParaRPr lang="en-US" sz="727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4513064"/>
            <a:ext cx="71438" cy="7143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0063" y="4480917"/>
            <a:ext cx="9955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Product Hunt Launch</a:t>
            </a:r>
            <a:endParaRPr lang="en-US" sz="727" dirty="0"/>
          </a:p>
        </p:txBody>
      </p:sp>
      <p:sp>
        <p:nvSpPr>
          <p:cNvPr id="32" name="Text 24"/>
          <p:cNvSpPr/>
          <p:nvPr/>
        </p:nvSpPr>
        <p:spPr>
          <a:xfrm>
            <a:off x="2450306" y="3491508"/>
            <a:ext cx="20788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CA3AF"/>
                </a:solidFill>
              </a:rPr>
              <a:t>Q2 2026</a:t>
            </a:r>
            <a:endParaRPr lang="en-US" sz="683" dirty="0"/>
          </a:p>
        </p:txBody>
      </p:sp>
      <p:sp>
        <p:nvSpPr>
          <p:cNvPr id="33" name="Shape 25"/>
          <p:cNvSpPr/>
          <p:nvPr/>
        </p:nvSpPr>
        <p:spPr>
          <a:xfrm>
            <a:off x="2450306" y="3670102"/>
            <a:ext cx="2078831" cy="107513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2536031" y="3755827"/>
            <a:ext cx="19073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Extensions</a:t>
            </a:r>
            <a:endParaRPr lang="en-US" sz="885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031" y="4020145"/>
            <a:ext cx="71438" cy="7143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664619" y="3987998"/>
            <a:ext cx="8596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Chrome Extension</a:t>
            </a:r>
            <a:endParaRPr lang="en-US" sz="727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031" y="4184452"/>
            <a:ext cx="71438" cy="7143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2664619" y="4152305"/>
            <a:ext cx="7058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VS Code Plugin</a:t>
            </a:r>
            <a:endParaRPr lang="en-US" sz="727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031" y="4348758"/>
            <a:ext cx="71438" cy="7143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664619" y="4316611"/>
            <a:ext cx="9137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Team Collaboration</a:t>
            </a:r>
            <a:endParaRPr lang="en-US" sz="72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031" y="4513064"/>
            <a:ext cx="71438" cy="7143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2664619" y="4480917"/>
            <a:ext cx="10778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Automated Monitoring</a:t>
            </a:r>
            <a:endParaRPr lang="en-US" sz="727" dirty="0"/>
          </a:p>
        </p:txBody>
      </p:sp>
      <p:sp>
        <p:nvSpPr>
          <p:cNvPr id="43" name="Text 31"/>
          <p:cNvSpPr/>
          <p:nvPr/>
        </p:nvSpPr>
        <p:spPr>
          <a:xfrm>
            <a:off x="4614863" y="3491508"/>
            <a:ext cx="20788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CA3AF"/>
                </a:solidFill>
              </a:rPr>
              <a:t>Q3 2026</a:t>
            </a:r>
            <a:endParaRPr lang="en-US" sz="683" dirty="0"/>
          </a:p>
        </p:txBody>
      </p:sp>
      <p:sp>
        <p:nvSpPr>
          <p:cNvPr id="44" name="Shape 32"/>
          <p:cNvSpPr/>
          <p:nvPr/>
        </p:nvSpPr>
        <p:spPr>
          <a:xfrm>
            <a:off x="4614863" y="3670102"/>
            <a:ext cx="2078831" cy="107513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/>
          <p:cNvSpPr/>
          <p:nvPr/>
        </p:nvSpPr>
        <p:spPr>
          <a:xfrm>
            <a:off x="4700588" y="3755827"/>
            <a:ext cx="19073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Integration</a:t>
            </a:r>
            <a:endParaRPr lang="en-US" sz="885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588" y="4020145"/>
            <a:ext cx="71438" cy="71438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829175" y="3987998"/>
            <a:ext cx="6405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CI/CD Actions</a:t>
            </a:r>
            <a:endParaRPr lang="en-US" sz="727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588" y="4184452"/>
            <a:ext cx="71438" cy="71438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4829175" y="4152305"/>
            <a:ext cx="7961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API Access (Beta)</a:t>
            </a:r>
            <a:endParaRPr lang="en-US" sz="727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588" y="4348758"/>
            <a:ext cx="71438" cy="7143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4829175" y="4316611"/>
            <a:ext cx="9229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White-label Reports</a:t>
            </a:r>
            <a:endParaRPr lang="en-US" sz="727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588" y="4513064"/>
            <a:ext cx="71438" cy="7143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4829175" y="4480917"/>
            <a:ext cx="733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Pro Tier Launch</a:t>
            </a:r>
            <a:endParaRPr lang="en-US" sz="727" dirty="0"/>
          </a:p>
        </p:txBody>
      </p:sp>
      <p:sp>
        <p:nvSpPr>
          <p:cNvPr id="54" name="Text 38"/>
          <p:cNvSpPr/>
          <p:nvPr/>
        </p:nvSpPr>
        <p:spPr>
          <a:xfrm>
            <a:off x="6779419" y="3491508"/>
            <a:ext cx="20788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CA3AF"/>
                </a:solidFill>
              </a:rPr>
              <a:t>Q4 2026</a:t>
            </a:r>
            <a:endParaRPr lang="en-US" sz="683" dirty="0"/>
          </a:p>
        </p:txBody>
      </p:sp>
      <p:sp>
        <p:nvSpPr>
          <p:cNvPr id="55" name="Shape 39"/>
          <p:cNvSpPr/>
          <p:nvPr/>
        </p:nvSpPr>
        <p:spPr>
          <a:xfrm>
            <a:off x="6779419" y="3670102"/>
            <a:ext cx="2078831" cy="107513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0"/>
          <p:cNvSpPr/>
          <p:nvPr/>
        </p:nvSpPr>
        <p:spPr>
          <a:xfrm>
            <a:off x="6865144" y="3755827"/>
            <a:ext cx="19073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Scale</a:t>
            </a:r>
            <a:endParaRPr lang="en-US" sz="885" dirty="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144" y="4020145"/>
            <a:ext cx="71438" cy="71438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6993731" y="3987998"/>
            <a:ext cx="5336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Mobile App</a:t>
            </a:r>
            <a:endParaRPr lang="en-US" sz="727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144" y="4184452"/>
            <a:ext cx="71438" cy="71438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6993731" y="4152305"/>
            <a:ext cx="6981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Enterprise SSO</a:t>
            </a:r>
            <a:endParaRPr lang="en-US" sz="727" dirty="0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144" y="4348758"/>
            <a:ext cx="71438" cy="71438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6993731" y="4316611"/>
            <a:ext cx="9052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On-premise Deploy</a:t>
            </a:r>
            <a:endParaRPr lang="en-US" sz="727" dirty="0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144" y="4513064"/>
            <a:ext cx="71438" cy="71438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6993731" y="4480917"/>
            <a:ext cx="7903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CA3AF"/>
                </a:solidFill>
              </a:rPr>
              <a:t>Partner Program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Why Now?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714500" y="1166217"/>
            <a:ext cx="5715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Market forces are converging to create immediate demand for better accessibility tools.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2074869"/>
            <a:ext cx="1839516" cy="2603897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2074869"/>
            <a:ext cx="1825228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205508" y="2289181"/>
            <a:ext cx="571500" cy="5715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958" y="2460631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6613" y="3074994"/>
            <a:ext cx="110929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+300%</a:t>
            </a:r>
            <a:endParaRPr lang="en-US" sz="2436" dirty="0"/>
          </a:p>
        </p:txBody>
      </p:sp>
      <p:sp>
        <p:nvSpPr>
          <p:cNvPr id="10" name="Text 6"/>
          <p:cNvSpPr/>
          <p:nvPr/>
        </p:nvSpPr>
        <p:spPr>
          <a:xfrm>
            <a:off x="996107" y="3475044"/>
            <a:ext cx="9903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0A5FA"/>
                </a:solidFill>
              </a:rPr>
              <a:t>ADA Lawsuits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714375" y="3764366"/>
            <a:ext cx="15537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Accessibility litigation has tripled since 2018. Compliance is no longer optional.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2625328" y="2074869"/>
            <a:ext cx="1839516" cy="2603897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625328" y="2074869"/>
            <a:ext cx="1825228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59336" y="2289181"/>
            <a:ext cx="571500" cy="5715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0786" y="2460631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88624" y="3074994"/>
            <a:ext cx="71289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82%</a:t>
            </a:r>
            <a:endParaRPr lang="en-US" sz="2436" dirty="0"/>
          </a:p>
        </p:txBody>
      </p:sp>
      <p:sp>
        <p:nvSpPr>
          <p:cNvPr id="17" name="Text 12"/>
          <p:cNvSpPr/>
          <p:nvPr/>
        </p:nvSpPr>
        <p:spPr>
          <a:xfrm>
            <a:off x="3141101" y="3475044"/>
            <a:ext cx="8079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Dark Mode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2768203" y="3764366"/>
            <a:ext cx="1553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Users prefer dark mode, but most sites are only tested for light mode accessibility.</a:t>
            </a:r>
            <a:endParaRPr lang="en-US" sz="834" dirty="0"/>
          </a:p>
        </p:txBody>
      </p:sp>
      <p:sp>
        <p:nvSpPr>
          <p:cNvPr id="19" name="Shape 14"/>
          <p:cNvSpPr/>
          <p:nvPr/>
        </p:nvSpPr>
        <p:spPr>
          <a:xfrm>
            <a:off x="4679156" y="2074869"/>
            <a:ext cx="1839516" cy="2603897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679156" y="2074869"/>
            <a:ext cx="1825228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313164" y="2289181"/>
            <a:ext cx="571500" cy="5715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4614" y="2460631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32567" y="3074994"/>
            <a:ext cx="17326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Dominant</a:t>
            </a:r>
            <a:endParaRPr lang="en-US" sz="2436" dirty="0"/>
          </a:p>
        </p:txBody>
      </p:sp>
      <p:sp>
        <p:nvSpPr>
          <p:cNvPr id="24" name="Text 18"/>
          <p:cNvSpPr/>
          <p:nvPr/>
        </p:nvSpPr>
        <p:spPr>
          <a:xfrm>
            <a:off x="5129045" y="3475044"/>
            <a:ext cx="9397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</a:rPr>
              <a:t>Frameworks</a:t>
            </a:r>
            <a:endParaRPr lang="en-US" sz="885" dirty="0"/>
          </a:p>
        </p:txBody>
      </p:sp>
      <p:sp>
        <p:nvSpPr>
          <p:cNvPr id="25" name="Text 19"/>
          <p:cNvSpPr/>
          <p:nvPr/>
        </p:nvSpPr>
        <p:spPr>
          <a:xfrm>
            <a:off x="4822031" y="3764366"/>
            <a:ext cx="15537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Bootstrap &amp; Tailwind rule the web. Tools must understand these modern stacks.</a:t>
            </a:r>
            <a:endParaRPr lang="en-US" sz="834" dirty="0"/>
          </a:p>
        </p:txBody>
      </p:sp>
      <p:sp>
        <p:nvSpPr>
          <p:cNvPr id="26" name="Shape 20"/>
          <p:cNvSpPr/>
          <p:nvPr/>
        </p:nvSpPr>
        <p:spPr>
          <a:xfrm>
            <a:off x="6732984" y="2074869"/>
            <a:ext cx="1839516" cy="2589609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732984" y="2074869"/>
            <a:ext cx="1825228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7366992" y="2289181"/>
            <a:ext cx="571500" cy="5715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9867" y="2460631"/>
            <a:ext cx="285750" cy="2286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96280" y="3074994"/>
            <a:ext cx="71289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67%</a:t>
            </a:r>
            <a:endParaRPr lang="en-US" sz="2436" dirty="0"/>
          </a:p>
        </p:txBody>
      </p:sp>
      <p:sp>
        <p:nvSpPr>
          <p:cNvPr id="31" name="Text 24"/>
          <p:cNvSpPr/>
          <p:nvPr/>
        </p:nvSpPr>
        <p:spPr>
          <a:xfrm>
            <a:off x="7236256" y="3475044"/>
            <a:ext cx="8329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</a:rPr>
              <a:t>Need Tools</a:t>
            </a:r>
            <a:endParaRPr lang="en-US" sz="885" dirty="0"/>
          </a:p>
        </p:txBody>
      </p:sp>
      <p:sp>
        <p:nvSpPr>
          <p:cNvPr id="32" name="Text 25"/>
          <p:cNvSpPr/>
          <p:nvPr/>
        </p:nvSpPr>
        <p:spPr>
          <a:xfrm>
            <a:off x="6875859" y="3764366"/>
            <a:ext cx="15537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Developers cite lack of proper tooling as the #1 barrier to accessibility.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2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The Ask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714500" y="1166217"/>
            <a:ext cx="57150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69" dirty="0">
                <a:solidFill>
                  <a:srgbClr val="9CA3AF"/>
                </a:solidFill>
              </a:rPr>
              <a:t>Join us in building the standard for accessible web development.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77680"/>
            <a:ext cx="3900488" cy="26513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4375" y="1720555"/>
            <a:ext cx="400050" cy="40005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834855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8725" y="1783956"/>
            <a:ext cx="172161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Immediate Focus</a:t>
            </a:r>
            <a:endParaRPr lang="en-US" sz="139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299199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7263" y="2270624"/>
            <a:ext cx="3371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5E7EB"/>
                </a:solidFill>
              </a:rPr>
              <a:t>User Feedback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957263" y="2493866"/>
            <a:ext cx="33718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Beta testing with agencies and freelance developers to refine the workflow.</a:t>
            </a:r>
            <a:endParaRPr lang="en-US" sz="83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928184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7263" y="2899609"/>
            <a:ext cx="3371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5E7EB"/>
                </a:solidFill>
              </a:rPr>
              <a:t>Community Growth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957263" y="3122851"/>
            <a:ext cx="33718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Engagement on GitHub and Product Hunt to build initial traction.</a:t>
            </a:r>
            <a:endParaRPr lang="en-US" sz="834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557169"/>
            <a:ext cx="128588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7263" y="3528594"/>
            <a:ext cx="33656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5E7EB"/>
                </a:solidFill>
              </a:rPr>
              <a:t>Partnerships</a:t>
            </a:r>
            <a:endParaRPr lang="en-US" sz="987" dirty="0"/>
          </a:p>
        </p:txBody>
      </p:sp>
      <p:sp>
        <p:nvSpPr>
          <p:cNvPr id="17" name="Text 10"/>
          <p:cNvSpPr/>
          <p:nvPr/>
        </p:nvSpPr>
        <p:spPr>
          <a:xfrm>
            <a:off x="957263" y="3751836"/>
            <a:ext cx="336568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Integrations with existing dev tools and accessibility platforms.</a:t>
            </a:r>
            <a:endParaRPr lang="en-US" sz="834" dirty="0"/>
          </a:p>
        </p:txBody>
      </p:sp>
      <p:sp>
        <p:nvSpPr>
          <p:cNvPr id="18" name="Shape 11"/>
          <p:cNvSpPr/>
          <p:nvPr/>
        </p:nvSpPr>
        <p:spPr>
          <a:xfrm>
            <a:off x="4672013" y="1577680"/>
            <a:ext cx="3900488" cy="247704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4814888" y="1720555"/>
            <a:ext cx="400050" cy="40005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834855"/>
            <a:ext cx="171450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29238" y="1783956"/>
            <a:ext cx="241712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Future Growth (6-12 Mo)</a:t>
            </a:r>
            <a:endParaRPr lang="en-US" sz="1397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4888" y="2299199"/>
            <a:ext cx="128588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057775" y="2270624"/>
            <a:ext cx="28930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5E7EB"/>
                </a:solidFill>
              </a:rPr>
              <a:t>Seed Funding</a:t>
            </a:r>
            <a:endParaRPr lang="en-US" sz="987" dirty="0"/>
          </a:p>
        </p:txBody>
      </p:sp>
      <p:sp>
        <p:nvSpPr>
          <p:cNvPr id="24" name="Text 15"/>
          <p:cNvSpPr/>
          <p:nvPr/>
        </p:nvSpPr>
        <p:spPr>
          <a:xfrm>
            <a:off x="5057775" y="2493866"/>
            <a:ext cx="28930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$250K - $500K</a:t>
            </a:r>
            <a:endParaRPr lang="en-US" sz="1193" dirty="0"/>
          </a:p>
        </p:txBody>
      </p:sp>
      <p:sp>
        <p:nvSpPr>
          <p:cNvPr id="25" name="Text 16"/>
          <p:cNvSpPr/>
          <p:nvPr/>
        </p:nvSpPr>
        <p:spPr>
          <a:xfrm>
            <a:off x="5057775" y="2727824"/>
            <a:ext cx="289305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To accelerate product development and go-to-market.</a:t>
            </a:r>
            <a:endParaRPr lang="en-US" sz="834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4888" y="3002133"/>
            <a:ext cx="128588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57775" y="2973558"/>
            <a:ext cx="311079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5E7EB"/>
                </a:solidFill>
              </a:rPr>
              <a:t>Key Hires</a:t>
            </a:r>
            <a:endParaRPr lang="en-US" sz="987" dirty="0"/>
          </a:p>
        </p:txBody>
      </p:sp>
      <p:sp>
        <p:nvSpPr>
          <p:cNvPr id="28" name="Text 18"/>
          <p:cNvSpPr/>
          <p:nvPr/>
        </p:nvSpPr>
        <p:spPr>
          <a:xfrm>
            <a:off x="5057775" y="3196800"/>
            <a:ext cx="311079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Marketing Lead and Accessibility Expert to drive adoption.</a:t>
            </a:r>
            <a:endParaRPr lang="en-US" sz="834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8" y="3471109"/>
            <a:ext cx="128588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057775" y="3442534"/>
            <a:ext cx="27858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5E7EB"/>
                </a:solidFill>
              </a:rPr>
              <a:t>Strategic Partners</a:t>
            </a:r>
            <a:endParaRPr lang="en-US" sz="987" dirty="0"/>
          </a:p>
        </p:txBody>
      </p:sp>
      <p:sp>
        <p:nvSpPr>
          <p:cNvPr id="31" name="Text 20"/>
          <p:cNvSpPr/>
          <p:nvPr/>
        </p:nvSpPr>
        <p:spPr>
          <a:xfrm>
            <a:off x="5057775" y="3665776"/>
            <a:ext cx="278583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9CA3AF"/>
                </a:solidFill>
              </a:rPr>
              <a:t>Enterprise pilot programs with large product teams.</a:t>
            </a:r>
            <a:endParaRPr lang="en-US" sz="834" dirty="0"/>
          </a:p>
        </p:txBody>
      </p:sp>
      <p:sp>
        <p:nvSpPr>
          <p:cNvPr id="32" name="Shape 21"/>
          <p:cNvSpPr/>
          <p:nvPr/>
        </p:nvSpPr>
        <p:spPr>
          <a:xfrm>
            <a:off x="1667870" y="4354116"/>
            <a:ext cx="2516414" cy="360759"/>
          </a:xfrm>
          <a:prstGeom prst="round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6464" y="4470202"/>
            <a:ext cx="128588" cy="1285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2060777" y="4446984"/>
            <a:ext cx="19449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5E7EB"/>
                </a:solidFill>
              </a:rPr>
              <a:t>site-auditor-pro-nine.vercel.app</a:t>
            </a:r>
            <a:endParaRPr lang="en-US" sz="885" dirty="0"/>
          </a:p>
        </p:txBody>
      </p:sp>
      <p:sp>
        <p:nvSpPr>
          <p:cNvPr id="35" name="Shape 23"/>
          <p:cNvSpPr/>
          <p:nvPr/>
        </p:nvSpPr>
        <p:spPr>
          <a:xfrm>
            <a:off x="4462890" y="4354116"/>
            <a:ext cx="3006096" cy="360759"/>
          </a:xfrm>
          <a:prstGeom prst="round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1484" y="4477345"/>
            <a:ext cx="125016" cy="1285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4852225" y="4454128"/>
            <a:ext cx="24381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5E7EB"/>
                </a:solidFill>
              </a:rPr>
              <a:t>github.com/jenninexus/site-auditor-pro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820</Words>
  <Application>Microsoft Office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Jenni Nexus</cp:lastModifiedBy>
  <cp:revision>2</cp:revision>
  <dcterms:created xsi:type="dcterms:W3CDTF">2026-01-12T00:06:12Z</dcterms:created>
  <dcterms:modified xsi:type="dcterms:W3CDTF">2026-01-12T00:31:51Z</dcterms:modified>
</cp:coreProperties>
</file>